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3" autoAdjust="0"/>
    <p:restoredTop sz="94660"/>
  </p:normalViewPr>
  <p:slideViewPr>
    <p:cSldViewPr snapToGrid="0">
      <p:cViewPr varScale="1">
        <p:scale>
          <a:sx n="41" d="100"/>
          <a:sy n="41" d="100"/>
        </p:scale>
        <p:origin x="28" y="14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F52A00-1439-5B56-33A7-110F56E264BB}"/>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49BD4A3-2C8C-EDF8-A641-59FC947D8C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0478A10-AF4B-1770-4AA3-F906CF65DBBC}"/>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E231D387-B304-AAFE-F3E5-10A1E8826F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E8B125E-EACB-AE94-C3B2-736ED7A1ED5A}"/>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39528238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3CC21C-8E90-82D3-01E7-1F323A1E19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001440E-9D2E-D963-4584-B94A6A9A4B1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4376AF-9CF4-F44D-C884-E82A6E4803D1}"/>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CEAD761C-3F66-3461-AB6D-3E64694871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86B741-ED88-31E1-331B-B2D08C993685}"/>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608115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79F5FE-0B6B-A231-00E6-FD54D50024C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233BBB5C-2374-B679-365A-47340AE12A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574009A-98C2-E2C9-EFA6-9AEFB0D0D1CF}"/>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066DC161-FEB4-F0CE-2EA4-BDDAE188D3D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816061-4441-25DB-AB8F-97F403771D5F}"/>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3321497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678123-9E88-680E-A6C8-1B04FA809AD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29C2BCF-6389-9C24-EB4B-174E4B3AF465}"/>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F44AE554-C5C7-90E4-DEB3-5EE0FD3CEB6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E06EE1B-468A-D713-1535-44B1B4C4185F}"/>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6" name="页脚占位符 5">
            <a:extLst>
              <a:ext uri="{FF2B5EF4-FFF2-40B4-BE49-F238E27FC236}">
                <a16:creationId xmlns:a16="http://schemas.microsoft.com/office/drawing/2014/main" id="{65F8AA48-18FE-1B0A-1F2C-CCA6CD68F0F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AC346399-E4AE-7958-0CFF-AFC80904FC04}"/>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6017921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1DD1A-025F-9DEC-96A5-5504299A31F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90B81CA7-AD51-476B-32EA-F3DDF2DD60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6612C0C-5104-6ADC-1BBC-BC915C4834E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5BE799-225D-EF1D-9419-795718053E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5906EED9-1867-0366-32BE-396905AA1E69}"/>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E68CAF0-B6AD-16D4-A37F-8DE493FF7DBA}"/>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8" name="页脚占位符 7">
            <a:extLst>
              <a:ext uri="{FF2B5EF4-FFF2-40B4-BE49-F238E27FC236}">
                <a16:creationId xmlns:a16="http://schemas.microsoft.com/office/drawing/2014/main" id="{AF0E4175-8991-C161-F10D-FDE46735EAFD}"/>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0E7E027-5918-C2EE-DDA2-CD2270893866}"/>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104609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BC18A7-CED9-AC71-0E3C-A34251B9748E}"/>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7BB97BAB-17DC-5A7F-BF19-57E02A4C2D7C}"/>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4" name="页脚占位符 3">
            <a:extLst>
              <a:ext uri="{FF2B5EF4-FFF2-40B4-BE49-F238E27FC236}">
                <a16:creationId xmlns:a16="http://schemas.microsoft.com/office/drawing/2014/main" id="{399BFBAB-30C2-779B-C9A6-A4363462B97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7348DCA-BD54-F883-7402-E62FBB17CB11}"/>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1965531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CE7DD20-067C-9EA1-8F85-84F7EDF2775F}"/>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3" name="页脚占位符 2">
            <a:extLst>
              <a:ext uri="{FF2B5EF4-FFF2-40B4-BE49-F238E27FC236}">
                <a16:creationId xmlns:a16="http://schemas.microsoft.com/office/drawing/2014/main" id="{1379377C-F71F-38C2-D5B8-BA125603DA0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176BC240-81D7-368E-19BA-3418F582FA81}"/>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4083183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00F5BB-4215-F735-6418-3B64E11C834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5DD111BA-00EE-1CFA-3435-247BBE8248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25EDBD-0F77-9F2B-C62F-8D5D470450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07CC0C1F-6D9D-7363-38E5-F12A215CE168}"/>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6" name="页脚占位符 5">
            <a:extLst>
              <a:ext uri="{FF2B5EF4-FFF2-40B4-BE49-F238E27FC236}">
                <a16:creationId xmlns:a16="http://schemas.microsoft.com/office/drawing/2014/main" id="{23895FDE-7988-2FEE-EC77-F01965A46F7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72E6265-8E11-E9C0-A93A-F36F89486D52}"/>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110292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0AE3299-2350-7B78-4186-53D450CC3F5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631A4AD9-4737-6A52-74CD-939202F8CF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3C27B6A-BC27-F280-BB81-96651F79100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FF03C64-AF9E-72B9-5F52-E058DA84CEAF}"/>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6" name="页脚占位符 5">
            <a:extLst>
              <a:ext uri="{FF2B5EF4-FFF2-40B4-BE49-F238E27FC236}">
                <a16:creationId xmlns:a16="http://schemas.microsoft.com/office/drawing/2014/main" id="{32ECB7D4-0149-68EB-32AD-1FA93C99B8B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F4F526C-C166-9965-7981-B362A0FF6557}"/>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2727787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9C1903-9D0B-158E-19CD-A083A12E176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459D77B-13FC-7157-771E-0D4CFE43EC92}"/>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546ECEE-EFCC-EDE2-BD77-5A10E008AAD6}"/>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AE5E942E-9337-2A80-8AB2-21625904CBA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6089E2C-7B6C-9971-94ED-B7E55EF9B76F}"/>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24779272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9877E76-60CC-DEDC-CFC3-391F1C4B8F1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0EE5B9C-0D6F-898A-120E-B7B1AA52E0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04C695F-7AA8-9D54-0E06-A5AC6F8742D6}"/>
              </a:ext>
            </a:extLst>
          </p:cNvPr>
          <p:cNvSpPr>
            <a:spLocks noGrp="1"/>
          </p:cNvSpPr>
          <p:nvPr>
            <p:ph type="dt" sz="half" idx="10"/>
          </p:nvPr>
        </p:nvSpPr>
        <p:spPr/>
        <p:txBody>
          <a:body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605D9504-85AE-76B0-263C-C152070B21E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93E4135-7735-DA51-CB86-52965B7D1465}"/>
              </a:ext>
            </a:extLst>
          </p:cNvPr>
          <p:cNvSpPr>
            <a:spLocks noGrp="1"/>
          </p:cNvSpPr>
          <p:nvPr>
            <p:ph type="sldNum" sz="quarter" idx="12"/>
          </p:nvPr>
        </p:nvSpPr>
        <p:spPr/>
        <p:txBody>
          <a:body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3965786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82EDECE-12E7-EE07-3712-26F0ABA90E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D6360D9-6A8A-1A8B-6831-954F078AE6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836FB9A-DF4B-3D6A-745D-49DCC91DA9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CC3F54C-F274-426C-AE8D-C1107859DD83}" type="datetimeFigureOut">
              <a:rPr lang="zh-CN" altLang="en-US" smtClean="0"/>
              <a:t>2025/1/10</a:t>
            </a:fld>
            <a:endParaRPr lang="zh-CN" altLang="en-US"/>
          </a:p>
        </p:txBody>
      </p:sp>
      <p:sp>
        <p:nvSpPr>
          <p:cNvPr id="5" name="页脚占位符 4">
            <a:extLst>
              <a:ext uri="{FF2B5EF4-FFF2-40B4-BE49-F238E27FC236}">
                <a16:creationId xmlns:a16="http://schemas.microsoft.com/office/drawing/2014/main" id="{27E5F9E6-6711-F651-E93B-C73D39F708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4DA037D-A4A2-29ED-1AEE-8E131BCA6F4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E604156-88AB-4B51-BA42-123F1FB3FD4E}" type="slidenum">
              <a:rPr lang="zh-CN" altLang="en-US" smtClean="0"/>
              <a:t>‹#›</a:t>
            </a:fld>
            <a:endParaRPr lang="zh-CN" altLang="en-US"/>
          </a:p>
        </p:txBody>
      </p:sp>
    </p:spTree>
    <p:extLst>
      <p:ext uri="{BB962C8B-B14F-4D97-AF65-F5344CB8AC3E}">
        <p14:creationId xmlns:p14="http://schemas.microsoft.com/office/powerpoint/2010/main" val="749605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hyperlink" Target="https://en.wikipedia.org/wiki/Machine_perception" TargetMode="External"/><Relationship Id="rId3" Type="http://schemas.openxmlformats.org/officeDocument/2006/relationships/hyperlink" Target="https://en.wikipedia.org/wiki/Machine" TargetMode="External"/><Relationship Id="rId7" Type="http://schemas.openxmlformats.org/officeDocument/2006/relationships/hyperlink" Target="https://en.wikipedia.org/wiki/Software" TargetMode="External"/><Relationship Id="rId2" Type="http://schemas.openxmlformats.org/officeDocument/2006/relationships/hyperlink" Target="https://en.wikipedia.org/wiki/Intelligence" TargetMode="External"/><Relationship Id="rId1" Type="http://schemas.openxmlformats.org/officeDocument/2006/relationships/slideLayout" Target="../slideLayouts/slideLayout2.xml"/><Relationship Id="rId6" Type="http://schemas.openxmlformats.org/officeDocument/2006/relationships/hyperlink" Target="https://en.wikipedia.org/wiki/Computer_science" TargetMode="External"/><Relationship Id="rId5" Type="http://schemas.openxmlformats.org/officeDocument/2006/relationships/hyperlink" Target="https://en.wikipedia.org/wiki/Field_of_research" TargetMode="External"/><Relationship Id="rId4" Type="http://schemas.openxmlformats.org/officeDocument/2006/relationships/hyperlink" Target="https://en.wikipedia.org/wiki/Computer" TargetMode="External"/><Relationship Id="rId9" Type="http://schemas.openxmlformats.org/officeDocument/2006/relationships/hyperlink" Target="https://en.wikipedia.org/wiki/Machine_learnin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81E317E6-2F3F-5F55-CAC9-9FE05F4E5456}"/>
              </a:ext>
            </a:extLst>
          </p:cNvPr>
          <p:cNvSpPr>
            <a:spLocks noGrp="1"/>
          </p:cNvSpPr>
          <p:nvPr>
            <p:ph type="ctrTitle"/>
          </p:nvPr>
        </p:nvSpPr>
        <p:spPr>
          <a:xfrm>
            <a:off x="890338" y="640080"/>
            <a:ext cx="3734014" cy="3566160"/>
          </a:xfrm>
        </p:spPr>
        <p:txBody>
          <a:bodyPr anchor="b">
            <a:normAutofit/>
          </a:bodyPr>
          <a:lstStyle/>
          <a:p>
            <a:pPr algn="l"/>
            <a:r>
              <a:rPr lang="en-US" altLang="zh-CN" sz="5400"/>
              <a:t>Impact of AI on education</a:t>
            </a:r>
            <a:endParaRPr lang="zh-CN" altLang="en-US" sz="5400"/>
          </a:p>
        </p:txBody>
      </p:sp>
      <p:sp>
        <p:nvSpPr>
          <p:cNvPr id="3" name="副标题 2">
            <a:extLst>
              <a:ext uri="{FF2B5EF4-FFF2-40B4-BE49-F238E27FC236}">
                <a16:creationId xmlns:a16="http://schemas.microsoft.com/office/drawing/2014/main" id="{36DB0FB7-DA29-ECB5-3288-780C0FCFAA77}"/>
              </a:ext>
            </a:extLst>
          </p:cNvPr>
          <p:cNvSpPr>
            <a:spLocks noGrp="1"/>
          </p:cNvSpPr>
          <p:nvPr>
            <p:ph type="subTitle" idx="1"/>
          </p:nvPr>
        </p:nvSpPr>
        <p:spPr>
          <a:xfrm>
            <a:off x="890339" y="4636008"/>
            <a:ext cx="3734014" cy="1572768"/>
          </a:xfrm>
        </p:spPr>
        <p:txBody>
          <a:bodyPr>
            <a:normAutofit/>
          </a:bodyPr>
          <a:lstStyle/>
          <a:p>
            <a:pPr algn="l"/>
            <a:r>
              <a:rPr lang="en-US" altLang="zh-CN" dirty="0"/>
              <a:t>Author : ZHANG KUNQI</a:t>
            </a:r>
            <a:endParaRPr lang="en-US" altLang="zh-CN"/>
          </a:p>
          <a:p>
            <a:pPr algn="l"/>
            <a:r>
              <a:rPr lang="en-US" altLang="zh-CN" dirty="0"/>
              <a:t>Date : 2025/1/1</a:t>
            </a:r>
            <a:endParaRPr lang="zh-CN" altLang="en-US"/>
          </a:p>
        </p:txBody>
      </p:sp>
      <p:sp>
        <p:nvSpPr>
          <p:cNvPr id="12"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图片 4">
            <a:extLst>
              <a:ext uri="{FF2B5EF4-FFF2-40B4-BE49-F238E27FC236}">
                <a16:creationId xmlns:a16="http://schemas.microsoft.com/office/drawing/2014/main" id="{C4D1F7B1-03ED-A590-7925-48F8DFF32E20}"/>
              </a:ext>
            </a:extLst>
          </p:cNvPr>
          <p:cNvPicPr>
            <a:picLocks noChangeAspect="1"/>
          </p:cNvPicPr>
          <p:nvPr/>
        </p:nvPicPr>
        <p:blipFill>
          <a:blip r:embed="rId2"/>
          <a:srcRect l="47490" r="5117" b="1"/>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804062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7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E54A11-CEF3-DBB2-055A-0FD2F9CE9892}"/>
              </a:ext>
            </a:extLst>
          </p:cNvPr>
          <p:cNvSpPr>
            <a:spLocks noGrp="1"/>
          </p:cNvSpPr>
          <p:nvPr>
            <p:ph type="title"/>
          </p:nvPr>
        </p:nvSpPr>
        <p:spPr/>
        <p:txBody>
          <a:bodyPr/>
          <a:lstStyle/>
          <a:p>
            <a:r>
              <a:rPr lang="en-US" altLang="zh-CN" b="1" i="0" dirty="0">
                <a:solidFill>
                  <a:srgbClr val="202122"/>
                </a:solidFill>
                <a:effectLst/>
                <a:latin typeface="Arial" panose="020B0604020202020204" pitchFamily="34" charset="0"/>
              </a:rPr>
              <a:t>Artificial intelligence</a:t>
            </a:r>
            <a:r>
              <a:rPr lang="en-US" altLang="zh-CN" b="0" i="0" dirty="0">
                <a:solidFill>
                  <a:srgbClr val="202122"/>
                </a:solidFill>
                <a:effectLst/>
                <a:latin typeface="Arial" panose="020B0604020202020204" pitchFamily="34" charset="0"/>
              </a:rPr>
              <a:t> (</a:t>
            </a:r>
            <a:r>
              <a:rPr lang="en-US" altLang="zh-CN" b="1" i="0" dirty="0">
                <a:solidFill>
                  <a:srgbClr val="202122"/>
                </a:solidFill>
                <a:effectLst/>
                <a:latin typeface="Arial" panose="020B0604020202020204" pitchFamily="34" charset="0"/>
              </a:rPr>
              <a:t>AI</a:t>
            </a:r>
            <a:r>
              <a:rPr lang="en-US" altLang="zh-CN" b="0" i="0" dirty="0">
                <a:solidFill>
                  <a:srgbClr val="202122"/>
                </a:solidFill>
                <a:effectLst/>
                <a:latin typeface="Arial" panose="020B0604020202020204" pitchFamily="34" charset="0"/>
              </a:rPr>
              <a:t>)</a:t>
            </a:r>
            <a:endParaRPr lang="zh-CN" altLang="en-US" dirty="0"/>
          </a:p>
        </p:txBody>
      </p:sp>
      <p:sp>
        <p:nvSpPr>
          <p:cNvPr id="3" name="内容占位符 2">
            <a:extLst>
              <a:ext uri="{FF2B5EF4-FFF2-40B4-BE49-F238E27FC236}">
                <a16:creationId xmlns:a16="http://schemas.microsoft.com/office/drawing/2014/main" id="{271C3618-645F-36F7-54C7-B9F35EA55A34}"/>
              </a:ext>
            </a:extLst>
          </p:cNvPr>
          <p:cNvSpPr>
            <a:spLocks noGrp="1"/>
          </p:cNvSpPr>
          <p:nvPr>
            <p:ph idx="1"/>
          </p:nvPr>
        </p:nvSpPr>
        <p:spPr/>
        <p:txBody>
          <a:bodyPr/>
          <a:lstStyle/>
          <a:p>
            <a:r>
              <a:rPr lang="en-US" altLang="zh-CN" b="0" i="0" u="none" strike="noStrike" dirty="0">
                <a:effectLst/>
                <a:latin typeface="Arial" panose="020B0604020202020204" pitchFamily="34" charset="0"/>
                <a:hlinkClick r:id="rId2" tooltip="Intelligence"/>
              </a:rPr>
              <a:t>intelligence</a:t>
            </a:r>
            <a:r>
              <a:rPr lang="en-US" altLang="zh-CN" b="0" i="0" dirty="0">
                <a:solidFill>
                  <a:srgbClr val="202122"/>
                </a:solidFill>
                <a:effectLst/>
                <a:latin typeface="Arial" panose="020B0604020202020204" pitchFamily="34" charset="0"/>
              </a:rPr>
              <a:t> exhibited by </a:t>
            </a:r>
            <a:r>
              <a:rPr lang="en-US" altLang="zh-CN" b="0" i="0" u="none" strike="noStrike" dirty="0">
                <a:effectLst/>
                <a:latin typeface="Arial" panose="020B0604020202020204" pitchFamily="34" charset="0"/>
                <a:hlinkClick r:id="rId3" tooltip="Machine"/>
              </a:rPr>
              <a:t>machines</a:t>
            </a:r>
            <a:r>
              <a:rPr lang="en-US" altLang="zh-CN" b="0" i="0" dirty="0">
                <a:solidFill>
                  <a:srgbClr val="202122"/>
                </a:solidFill>
                <a:effectLst/>
                <a:latin typeface="Arial" panose="020B0604020202020204" pitchFamily="34" charset="0"/>
              </a:rPr>
              <a:t>, particularly </a:t>
            </a:r>
            <a:r>
              <a:rPr lang="en-US" altLang="zh-CN" b="0" i="0" u="none" strike="noStrike" dirty="0">
                <a:effectLst/>
                <a:latin typeface="Arial" panose="020B0604020202020204" pitchFamily="34" charset="0"/>
                <a:hlinkClick r:id="rId4" tooltip="Computer"/>
              </a:rPr>
              <a:t>computer systems</a:t>
            </a:r>
            <a:r>
              <a:rPr lang="en-US" altLang="zh-CN" b="0" i="0" dirty="0">
                <a:solidFill>
                  <a:srgbClr val="202122"/>
                </a:solidFill>
                <a:effectLst/>
                <a:latin typeface="Arial" panose="020B0604020202020204" pitchFamily="34" charset="0"/>
              </a:rPr>
              <a:t>.</a:t>
            </a:r>
          </a:p>
          <a:p>
            <a:r>
              <a:rPr lang="en-US" altLang="zh-CN" b="0" i="0" dirty="0">
                <a:solidFill>
                  <a:srgbClr val="202122"/>
                </a:solidFill>
                <a:effectLst/>
                <a:latin typeface="Arial" panose="020B0604020202020204" pitchFamily="34" charset="0"/>
              </a:rPr>
              <a:t> a </a:t>
            </a:r>
            <a:r>
              <a:rPr lang="en-US" altLang="zh-CN" b="0" i="0" u="none" strike="noStrike" dirty="0">
                <a:effectLst/>
                <a:latin typeface="Arial" panose="020B0604020202020204" pitchFamily="34" charset="0"/>
                <a:hlinkClick r:id="rId5" tooltip="Field of research"/>
              </a:rPr>
              <a:t>field of research</a:t>
            </a:r>
            <a:r>
              <a:rPr lang="en-US" altLang="zh-CN" b="0" i="0" dirty="0">
                <a:solidFill>
                  <a:srgbClr val="202122"/>
                </a:solidFill>
                <a:effectLst/>
                <a:latin typeface="Arial" panose="020B0604020202020204" pitchFamily="34" charset="0"/>
              </a:rPr>
              <a:t> in </a:t>
            </a:r>
            <a:r>
              <a:rPr lang="en-US" altLang="zh-CN" b="0" i="0" u="none" strike="noStrike" dirty="0">
                <a:effectLst/>
                <a:latin typeface="Arial" panose="020B0604020202020204" pitchFamily="34" charset="0"/>
                <a:hlinkClick r:id="rId6" tooltip="Computer science"/>
              </a:rPr>
              <a:t>computer science</a:t>
            </a:r>
            <a:r>
              <a:rPr lang="en-US" altLang="zh-CN" b="0" i="0" dirty="0">
                <a:solidFill>
                  <a:srgbClr val="202122"/>
                </a:solidFill>
                <a:effectLst/>
                <a:latin typeface="Arial" panose="020B0604020202020204" pitchFamily="34" charset="0"/>
              </a:rPr>
              <a:t> that develops and studies methods and </a:t>
            </a:r>
            <a:r>
              <a:rPr lang="en-US" altLang="zh-CN" b="0" i="0" u="none" strike="noStrike" dirty="0">
                <a:effectLst/>
                <a:latin typeface="Arial" panose="020B0604020202020204" pitchFamily="34" charset="0"/>
                <a:hlinkClick r:id="rId7" tooltip="Software"/>
              </a:rPr>
              <a:t>software</a:t>
            </a:r>
            <a:r>
              <a:rPr lang="en-US" altLang="zh-CN" b="0" i="0" dirty="0">
                <a:solidFill>
                  <a:srgbClr val="202122"/>
                </a:solidFill>
                <a:effectLst/>
                <a:latin typeface="Arial" panose="020B0604020202020204" pitchFamily="34" charset="0"/>
              </a:rPr>
              <a:t> that enable machines to </a:t>
            </a:r>
            <a:r>
              <a:rPr lang="en-US" altLang="zh-CN" b="0" i="0" u="none" strike="noStrike" dirty="0">
                <a:effectLst/>
                <a:latin typeface="Arial" panose="020B0604020202020204" pitchFamily="34" charset="0"/>
                <a:hlinkClick r:id="rId8" tooltip="Machine perception"/>
              </a:rPr>
              <a:t>perceive their environment</a:t>
            </a:r>
            <a:r>
              <a:rPr lang="en-US" altLang="zh-CN" b="0" i="0" dirty="0">
                <a:solidFill>
                  <a:srgbClr val="202122"/>
                </a:solidFill>
                <a:effectLst/>
                <a:latin typeface="Arial" panose="020B0604020202020204" pitchFamily="34" charset="0"/>
              </a:rPr>
              <a:t> and use </a:t>
            </a:r>
            <a:r>
              <a:rPr lang="en-US" altLang="zh-CN" b="0" i="0" u="none" strike="noStrike" dirty="0">
                <a:effectLst/>
                <a:latin typeface="Arial" panose="020B0604020202020204" pitchFamily="34" charset="0"/>
                <a:hlinkClick r:id="rId9" tooltip="Machine learning"/>
              </a:rPr>
              <a:t>learning</a:t>
            </a:r>
            <a:r>
              <a:rPr lang="en-US" altLang="zh-CN" b="0" i="0" dirty="0">
                <a:solidFill>
                  <a:srgbClr val="202122"/>
                </a:solidFill>
                <a:effectLst/>
                <a:latin typeface="Arial" panose="020B0604020202020204" pitchFamily="34" charset="0"/>
              </a:rPr>
              <a:t> and intelligence to take actions that maximize their chances of achieving defined goals.</a:t>
            </a:r>
          </a:p>
          <a:p>
            <a:pPr marL="0" indent="0">
              <a:buNone/>
            </a:pPr>
            <a:r>
              <a:rPr lang="en-US" altLang="zh-CN" dirty="0">
                <a:solidFill>
                  <a:srgbClr val="202122"/>
                </a:solidFill>
                <a:latin typeface="Arial" panose="020B0604020202020204" pitchFamily="34" charset="0"/>
              </a:rPr>
              <a:t>(Wikipedia)</a:t>
            </a:r>
            <a:endParaRPr lang="en-US" altLang="zh-CN" b="0" i="0" dirty="0">
              <a:solidFill>
                <a:srgbClr val="202122"/>
              </a:solidFill>
              <a:effectLst/>
              <a:latin typeface="Arial" panose="020B0604020202020204" pitchFamily="34" charset="0"/>
            </a:endParaRPr>
          </a:p>
        </p:txBody>
      </p:sp>
    </p:spTree>
    <p:extLst>
      <p:ext uri="{BB962C8B-B14F-4D97-AF65-F5344CB8AC3E}">
        <p14:creationId xmlns:p14="http://schemas.microsoft.com/office/powerpoint/2010/main" val="29044563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BAB5D-0147-9D2C-6960-2A0DE9C02737}"/>
              </a:ext>
            </a:extLst>
          </p:cNvPr>
          <p:cNvSpPr>
            <a:spLocks noGrp="1"/>
          </p:cNvSpPr>
          <p:nvPr>
            <p:ph type="title"/>
          </p:nvPr>
        </p:nvSpPr>
        <p:spPr/>
        <p:txBody>
          <a:bodyPr/>
          <a:lstStyle/>
          <a:p>
            <a:r>
              <a:rPr lang="en-US" altLang="zh-CN" dirty="0"/>
              <a:t>Applications on Education</a:t>
            </a:r>
            <a:endParaRPr lang="zh-CN" altLang="en-US" dirty="0"/>
          </a:p>
        </p:txBody>
      </p:sp>
      <p:sp>
        <p:nvSpPr>
          <p:cNvPr id="3" name="内容占位符 2">
            <a:extLst>
              <a:ext uri="{FF2B5EF4-FFF2-40B4-BE49-F238E27FC236}">
                <a16:creationId xmlns:a16="http://schemas.microsoft.com/office/drawing/2014/main" id="{691F2F41-B120-83F8-9CF9-3711FFA3D041}"/>
              </a:ext>
            </a:extLst>
          </p:cNvPr>
          <p:cNvSpPr>
            <a:spLocks noGrp="1"/>
          </p:cNvSpPr>
          <p:nvPr>
            <p:ph idx="1"/>
          </p:nvPr>
        </p:nvSpPr>
        <p:spPr/>
        <p:txBody>
          <a:bodyPr/>
          <a:lstStyle/>
          <a:p>
            <a:r>
              <a:rPr lang="en-US" altLang="zh-CN" dirty="0"/>
              <a:t>Personalized Learning</a:t>
            </a:r>
          </a:p>
          <a:p>
            <a:r>
              <a:rPr lang="en-US" altLang="zh-CN" dirty="0"/>
              <a:t>Assistive learning and special education for students with disabilities</a:t>
            </a:r>
          </a:p>
          <a:p>
            <a:r>
              <a:rPr lang="en-US" altLang="zh-CN" dirty="0"/>
              <a:t>Data analysis and educational decision-making for the educators</a:t>
            </a:r>
          </a:p>
          <a:p>
            <a:r>
              <a:rPr lang="en-US" altLang="zh-CN" dirty="0"/>
              <a:t>Virtual reality for the experiences for some subjects like engineering, biology</a:t>
            </a:r>
          </a:p>
          <a:p>
            <a:r>
              <a:rPr lang="en-US" altLang="zh-CN" dirty="0"/>
              <a:t>Equity for education</a:t>
            </a:r>
          </a:p>
        </p:txBody>
      </p:sp>
    </p:spTree>
    <p:extLst>
      <p:ext uri="{BB962C8B-B14F-4D97-AF65-F5344CB8AC3E}">
        <p14:creationId xmlns:p14="http://schemas.microsoft.com/office/powerpoint/2010/main" val="37880272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AD55FD-55B9-E135-423C-D6CF17C96273}"/>
              </a:ext>
            </a:extLst>
          </p:cNvPr>
          <p:cNvSpPr>
            <a:spLocks noGrp="1"/>
          </p:cNvSpPr>
          <p:nvPr>
            <p:ph type="title"/>
          </p:nvPr>
        </p:nvSpPr>
        <p:spPr/>
        <p:txBody>
          <a:bodyPr/>
          <a:lstStyle/>
          <a:p>
            <a:r>
              <a:rPr lang="en-US" altLang="zh-CN" dirty="0"/>
              <a:t>Challenge of AI in the education</a:t>
            </a:r>
            <a:endParaRPr lang="zh-CN" altLang="en-US" dirty="0"/>
          </a:p>
        </p:txBody>
      </p:sp>
      <p:sp>
        <p:nvSpPr>
          <p:cNvPr id="3" name="内容占位符 2">
            <a:extLst>
              <a:ext uri="{FF2B5EF4-FFF2-40B4-BE49-F238E27FC236}">
                <a16:creationId xmlns:a16="http://schemas.microsoft.com/office/drawing/2014/main" id="{D3EEA1B4-373B-16FB-83D6-FEC602D1F374}"/>
              </a:ext>
            </a:extLst>
          </p:cNvPr>
          <p:cNvSpPr>
            <a:spLocks noGrp="1"/>
          </p:cNvSpPr>
          <p:nvPr>
            <p:ph idx="1"/>
          </p:nvPr>
        </p:nvSpPr>
        <p:spPr/>
        <p:txBody>
          <a:bodyPr/>
          <a:lstStyle/>
          <a:p>
            <a:r>
              <a:rPr lang="en-US" altLang="zh-CN" dirty="0"/>
              <a:t>Privacy and security of educations people during AI training</a:t>
            </a:r>
          </a:p>
          <a:p>
            <a:r>
              <a:rPr lang="en-US" altLang="zh-CN" dirty="0"/>
              <a:t>High implementation costs during deploying AI technologies</a:t>
            </a:r>
          </a:p>
          <a:p>
            <a:r>
              <a:rPr lang="en-US" altLang="zh-CN" dirty="0"/>
              <a:t>Acceptance for the unfamiliarity</a:t>
            </a:r>
          </a:p>
          <a:p>
            <a:r>
              <a:rPr lang="en-US" altLang="zh-CN" dirty="0"/>
              <a:t>Fairness for the data that train the AI system</a:t>
            </a:r>
          </a:p>
          <a:p>
            <a:r>
              <a:rPr lang="en-US" altLang="zh-CN" dirty="0"/>
              <a:t>Reduced social and emotional development</a:t>
            </a:r>
          </a:p>
          <a:p>
            <a:r>
              <a:rPr lang="en-US" altLang="zh-CN" dirty="0"/>
              <a:t>Different languages cause different adaptability</a:t>
            </a:r>
          </a:p>
          <a:p>
            <a:r>
              <a:rPr lang="en-US" altLang="zh-CN" dirty="0"/>
              <a:t>Lack of standardization</a:t>
            </a:r>
          </a:p>
          <a:p>
            <a:endParaRPr lang="zh-CN" altLang="en-US" dirty="0"/>
          </a:p>
        </p:txBody>
      </p:sp>
    </p:spTree>
    <p:extLst>
      <p:ext uri="{BB962C8B-B14F-4D97-AF65-F5344CB8AC3E}">
        <p14:creationId xmlns:p14="http://schemas.microsoft.com/office/powerpoint/2010/main" val="331741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EB5579-7DEB-CCEE-15E1-FEB63056938F}"/>
              </a:ext>
            </a:extLst>
          </p:cNvPr>
          <p:cNvSpPr>
            <a:spLocks noGrp="1"/>
          </p:cNvSpPr>
          <p:nvPr>
            <p:ph type="title"/>
          </p:nvPr>
        </p:nvSpPr>
        <p:spPr/>
        <p:txBody>
          <a:bodyPr/>
          <a:lstStyle/>
          <a:p>
            <a:r>
              <a:rPr lang="en-US" altLang="zh-CN" dirty="0"/>
              <a:t>Goal</a:t>
            </a:r>
            <a:endParaRPr lang="zh-CN" altLang="en-US" dirty="0"/>
          </a:p>
        </p:txBody>
      </p:sp>
      <p:sp>
        <p:nvSpPr>
          <p:cNvPr id="3" name="内容占位符 2">
            <a:extLst>
              <a:ext uri="{FF2B5EF4-FFF2-40B4-BE49-F238E27FC236}">
                <a16:creationId xmlns:a16="http://schemas.microsoft.com/office/drawing/2014/main" id="{CEEAA7FF-BA0F-1A5A-730B-37BEC76342E4}"/>
              </a:ext>
            </a:extLst>
          </p:cNvPr>
          <p:cNvSpPr>
            <a:spLocks noGrp="1"/>
          </p:cNvSpPr>
          <p:nvPr>
            <p:ph idx="1"/>
          </p:nvPr>
        </p:nvSpPr>
        <p:spPr/>
        <p:txBody>
          <a:bodyPr/>
          <a:lstStyle/>
          <a:p>
            <a:r>
              <a:rPr lang="en-US" altLang="zh-CN" dirty="0"/>
              <a:t>Find how AI can improve the efficiency and effectiveness of education in two main point :</a:t>
            </a:r>
          </a:p>
          <a:p>
            <a:pPr marL="0" indent="0">
              <a:buNone/>
            </a:pPr>
            <a:r>
              <a:rPr lang="en-US" altLang="zh-CN" dirty="0"/>
              <a:t>--personalized learning</a:t>
            </a:r>
          </a:p>
          <a:p>
            <a:pPr marL="0" indent="0">
              <a:buNone/>
            </a:pPr>
            <a:r>
              <a:rPr lang="en-US" altLang="zh-CN" dirty="0"/>
              <a:t>--educational equity</a:t>
            </a:r>
          </a:p>
          <a:p>
            <a:pPr marL="0" indent="0">
              <a:buNone/>
            </a:pPr>
            <a:endParaRPr lang="en-US" altLang="zh-CN" dirty="0"/>
          </a:p>
          <a:p>
            <a:endParaRPr lang="zh-CN" altLang="en-US" dirty="0"/>
          </a:p>
        </p:txBody>
      </p:sp>
    </p:spTree>
    <p:extLst>
      <p:ext uri="{BB962C8B-B14F-4D97-AF65-F5344CB8AC3E}">
        <p14:creationId xmlns:p14="http://schemas.microsoft.com/office/powerpoint/2010/main" val="28950496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A389E2-563C-78DC-7B3F-A25067BD8E2E}"/>
              </a:ext>
            </a:extLst>
          </p:cNvPr>
          <p:cNvSpPr>
            <a:spLocks noGrp="1"/>
          </p:cNvSpPr>
          <p:nvPr>
            <p:ph type="title"/>
          </p:nvPr>
        </p:nvSpPr>
        <p:spPr/>
        <p:txBody>
          <a:bodyPr/>
          <a:lstStyle/>
          <a:p>
            <a:r>
              <a:rPr lang="en-US" altLang="zh-CN" dirty="0"/>
              <a:t>Personalized Learning</a:t>
            </a:r>
            <a:endParaRPr lang="zh-CN" altLang="en-US" dirty="0"/>
          </a:p>
        </p:txBody>
      </p:sp>
      <p:sp>
        <p:nvSpPr>
          <p:cNvPr id="3" name="内容占位符 2">
            <a:extLst>
              <a:ext uri="{FF2B5EF4-FFF2-40B4-BE49-F238E27FC236}">
                <a16:creationId xmlns:a16="http://schemas.microsoft.com/office/drawing/2014/main" id="{347D92A6-2FED-E721-A66D-598A9AE546C3}"/>
              </a:ext>
            </a:extLst>
          </p:cNvPr>
          <p:cNvSpPr>
            <a:spLocks noGrp="1"/>
          </p:cNvSpPr>
          <p:nvPr>
            <p:ph idx="1"/>
          </p:nvPr>
        </p:nvSpPr>
        <p:spPr/>
        <p:txBody>
          <a:bodyPr/>
          <a:lstStyle/>
          <a:p>
            <a:pPr marL="0" indent="0">
              <a:buNone/>
            </a:pPr>
            <a:r>
              <a:rPr lang="en-US" altLang="zh-CN" dirty="0"/>
              <a:t>AI adapts learning content to individual student needs based on their skill levels and preferences. It helps in creating customized learning experiences, enabling students to progress at their own pace. Intelligent tutoring systems, </a:t>
            </a:r>
          </a:p>
          <a:p>
            <a:pPr marL="0" indent="0">
              <a:buNone/>
            </a:pPr>
            <a:r>
              <a:rPr lang="en-US" altLang="zh-CN" dirty="0"/>
              <a:t>like the Duolingo , student can choose their own interest in different languages, and the education system will provide instant feedback to optimize learning outcomes. Sometimes will provide some review practice.</a:t>
            </a:r>
            <a:endParaRPr lang="zh-CN" altLang="en-US" dirty="0"/>
          </a:p>
        </p:txBody>
      </p:sp>
    </p:spTree>
    <p:extLst>
      <p:ext uri="{BB962C8B-B14F-4D97-AF65-F5344CB8AC3E}">
        <p14:creationId xmlns:p14="http://schemas.microsoft.com/office/powerpoint/2010/main" val="30519231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AD416E-5F1D-3203-6513-5CD2B8B9A19D}"/>
              </a:ext>
            </a:extLst>
          </p:cNvPr>
          <p:cNvSpPr>
            <a:spLocks noGrp="1"/>
          </p:cNvSpPr>
          <p:nvPr>
            <p:ph type="title"/>
          </p:nvPr>
        </p:nvSpPr>
        <p:spPr/>
        <p:txBody>
          <a:bodyPr/>
          <a:lstStyle/>
          <a:p>
            <a:r>
              <a:rPr lang="en-US" altLang="zh-CN" dirty="0"/>
              <a:t>Educational Equity</a:t>
            </a:r>
            <a:endParaRPr lang="zh-CN" altLang="en-US" dirty="0"/>
          </a:p>
        </p:txBody>
      </p:sp>
      <p:sp>
        <p:nvSpPr>
          <p:cNvPr id="3" name="内容占位符 2">
            <a:extLst>
              <a:ext uri="{FF2B5EF4-FFF2-40B4-BE49-F238E27FC236}">
                <a16:creationId xmlns:a16="http://schemas.microsoft.com/office/drawing/2014/main" id="{34DB0A74-948C-FB3D-5F90-E95D5B9AA6A0}"/>
              </a:ext>
            </a:extLst>
          </p:cNvPr>
          <p:cNvSpPr>
            <a:spLocks noGrp="1"/>
          </p:cNvSpPr>
          <p:nvPr>
            <p:ph idx="1"/>
          </p:nvPr>
        </p:nvSpPr>
        <p:spPr/>
        <p:txBody>
          <a:bodyPr/>
          <a:lstStyle/>
          <a:p>
            <a:r>
              <a:rPr lang="en-US" altLang="zh-CN" dirty="0"/>
              <a:t>AI-powered remote learning platforms bridge educational gaps by providing access to quality resources in underserved areas. For instance, online classrooms enhanced by AI tools allow students from rural regions to access lessons taught by top educators, improving overall learning opportunities.</a:t>
            </a:r>
          </a:p>
          <a:p>
            <a:r>
              <a:rPr lang="en-US" altLang="zh-CN" dirty="0"/>
              <a:t>Like </a:t>
            </a:r>
            <a:r>
              <a:rPr lang="en-US" altLang="zh-CN" dirty="0" err="1"/>
              <a:t>ChatGpt</a:t>
            </a:r>
            <a:r>
              <a:rPr lang="en-US" altLang="zh-CN" dirty="0"/>
              <a:t>, everyone can go to the website to ask for question that they don’t understand or interest.</a:t>
            </a:r>
            <a:endParaRPr lang="zh-CN" altLang="en-US" dirty="0"/>
          </a:p>
        </p:txBody>
      </p:sp>
    </p:spTree>
    <p:extLst>
      <p:ext uri="{BB962C8B-B14F-4D97-AF65-F5344CB8AC3E}">
        <p14:creationId xmlns:p14="http://schemas.microsoft.com/office/powerpoint/2010/main" val="5521475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BB37DCB-A542-6E42-C678-1F582D9E2349}"/>
              </a:ext>
            </a:extLst>
          </p:cNvPr>
          <p:cNvSpPr>
            <a:spLocks noGrp="1"/>
          </p:cNvSpPr>
          <p:nvPr>
            <p:ph type="title"/>
          </p:nvPr>
        </p:nvSpPr>
        <p:spPr/>
        <p:txBody>
          <a:bodyPr/>
          <a:lstStyle/>
          <a:p>
            <a:r>
              <a:rPr lang="en-US" altLang="zh-CN" dirty="0"/>
              <a:t>Limitations</a:t>
            </a:r>
            <a:endParaRPr lang="zh-CN" altLang="en-US" dirty="0"/>
          </a:p>
        </p:txBody>
      </p:sp>
      <p:sp>
        <p:nvSpPr>
          <p:cNvPr id="3" name="内容占位符 2">
            <a:extLst>
              <a:ext uri="{FF2B5EF4-FFF2-40B4-BE49-F238E27FC236}">
                <a16:creationId xmlns:a16="http://schemas.microsoft.com/office/drawing/2014/main" id="{D405ED82-65A5-92E1-D50C-414B1A6F5278}"/>
              </a:ext>
            </a:extLst>
          </p:cNvPr>
          <p:cNvSpPr>
            <a:spLocks noGrp="1"/>
          </p:cNvSpPr>
          <p:nvPr>
            <p:ph idx="1"/>
          </p:nvPr>
        </p:nvSpPr>
        <p:spPr/>
        <p:txBody>
          <a:bodyPr/>
          <a:lstStyle/>
          <a:p>
            <a:r>
              <a:rPr lang="en-US" altLang="zh-CN" dirty="0"/>
              <a:t>High cost</a:t>
            </a:r>
          </a:p>
          <a:p>
            <a:r>
              <a:rPr lang="en-US" altLang="zh-CN" dirty="0"/>
              <a:t>Lack of infrastructure</a:t>
            </a:r>
          </a:p>
          <a:p>
            <a:r>
              <a:rPr lang="en-US" altLang="zh-CN" dirty="0"/>
              <a:t>Low acceptance by educators and students</a:t>
            </a:r>
          </a:p>
          <a:p>
            <a:r>
              <a:rPr lang="en-US" altLang="zh-CN" dirty="0"/>
              <a:t>Limitation for student to express their ideas</a:t>
            </a:r>
          </a:p>
          <a:p>
            <a:r>
              <a:rPr lang="en-US" altLang="zh-CN" dirty="0"/>
              <a:t>Different language cause some people can’t use AI tools</a:t>
            </a:r>
            <a:endParaRPr lang="zh-CN" altLang="en-US" dirty="0"/>
          </a:p>
        </p:txBody>
      </p:sp>
    </p:spTree>
    <p:extLst>
      <p:ext uri="{BB962C8B-B14F-4D97-AF65-F5344CB8AC3E}">
        <p14:creationId xmlns:p14="http://schemas.microsoft.com/office/powerpoint/2010/main" val="3580833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9ACBB2-3C3A-A592-0D3F-21BBDBBB1A02}"/>
              </a:ext>
            </a:extLst>
          </p:cNvPr>
          <p:cNvSpPr>
            <a:spLocks noGrp="1"/>
          </p:cNvSpPr>
          <p:nvPr>
            <p:ph type="title"/>
          </p:nvPr>
        </p:nvSpPr>
        <p:spPr/>
        <p:txBody>
          <a:bodyPr/>
          <a:lstStyle/>
          <a:p>
            <a:r>
              <a:rPr lang="en-US" altLang="zh-CN" dirty="0"/>
              <a:t>Future Directions</a:t>
            </a:r>
            <a:endParaRPr lang="zh-CN" altLang="en-US" dirty="0"/>
          </a:p>
        </p:txBody>
      </p:sp>
      <p:sp>
        <p:nvSpPr>
          <p:cNvPr id="3" name="内容占位符 2">
            <a:extLst>
              <a:ext uri="{FF2B5EF4-FFF2-40B4-BE49-F238E27FC236}">
                <a16:creationId xmlns:a16="http://schemas.microsoft.com/office/drawing/2014/main" id="{8A4B2D0B-12AB-AEC0-866E-819B63A132ED}"/>
              </a:ext>
            </a:extLst>
          </p:cNvPr>
          <p:cNvSpPr>
            <a:spLocks noGrp="1"/>
          </p:cNvSpPr>
          <p:nvPr>
            <p:ph idx="1"/>
          </p:nvPr>
        </p:nvSpPr>
        <p:spPr/>
        <p:txBody>
          <a:bodyPr/>
          <a:lstStyle/>
          <a:p>
            <a:r>
              <a:rPr lang="en-US" altLang="zh-CN" dirty="0"/>
              <a:t>Make sure the privacy of students and educators </a:t>
            </a:r>
          </a:p>
          <a:p>
            <a:r>
              <a:rPr lang="en-US" altLang="zh-CN" dirty="0"/>
              <a:t>Make sure every one can login in to the AI website</a:t>
            </a:r>
          </a:p>
          <a:p>
            <a:r>
              <a:rPr lang="en-US" altLang="zh-CN" dirty="0"/>
              <a:t>Reduce the cost of AI tools</a:t>
            </a:r>
          </a:p>
          <a:p>
            <a:pPr marL="0" indent="0">
              <a:buNone/>
            </a:pPr>
            <a:endParaRPr lang="zh-CN" altLang="en-US" dirty="0"/>
          </a:p>
        </p:txBody>
      </p:sp>
    </p:spTree>
    <p:extLst>
      <p:ext uri="{BB962C8B-B14F-4D97-AF65-F5344CB8AC3E}">
        <p14:creationId xmlns:p14="http://schemas.microsoft.com/office/powerpoint/2010/main" val="2081030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893D2672-11E3-A08C-C0C9-67608F23CE2A}"/>
              </a:ext>
            </a:extLst>
          </p:cNvPr>
          <p:cNvSpPr>
            <a:spLocks noGrp="1"/>
          </p:cNvSpPr>
          <p:nvPr>
            <p:ph type="title"/>
          </p:nvPr>
        </p:nvSpPr>
        <p:spPr>
          <a:xfrm>
            <a:off x="640080" y="325369"/>
            <a:ext cx="4368602" cy="1956841"/>
          </a:xfrm>
        </p:spPr>
        <p:txBody>
          <a:bodyPr anchor="b">
            <a:normAutofit/>
          </a:bodyPr>
          <a:lstStyle/>
          <a:p>
            <a:r>
              <a:rPr lang="en-US" altLang="zh-CN" sz="5400"/>
              <a:t>Conclusion</a:t>
            </a:r>
            <a:endParaRPr lang="zh-CN" altLang="en-US" sz="5400"/>
          </a:p>
        </p:txBody>
      </p:sp>
      <p:sp>
        <p:nvSpPr>
          <p:cNvPr id="12"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内容占位符 2">
            <a:extLst>
              <a:ext uri="{FF2B5EF4-FFF2-40B4-BE49-F238E27FC236}">
                <a16:creationId xmlns:a16="http://schemas.microsoft.com/office/drawing/2014/main" id="{EFC65B9F-1A86-E55E-8FDA-4858FF5B88BB}"/>
              </a:ext>
            </a:extLst>
          </p:cNvPr>
          <p:cNvSpPr>
            <a:spLocks noGrp="1"/>
          </p:cNvSpPr>
          <p:nvPr>
            <p:ph idx="1"/>
          </p:nvPr>
        </p:nvSpPr>
        <p:spPr>
          <a:xfrm>
            <a:off x="640080" y="2872899"/>
            <a:ext cx="4243589" cy="3320668"/>
          </a:xfrm>
        </p:spPr>
        <p:txBody>
          <a:bodyPr>
            <a:normAutofit/>
          </a:bodyPr>
          <a:lstStyle/>
          <a:p>
            <a:pPr marL="0" indent="0">
              <a:buNone/>
            </a:pPr>
            <a:r>
              <a:rPr lang="en-US" altLang="zh-CN" sz="2000"/>
              <a:t>While AI enhances efficiency in education and ensures better resource distribution, it introduces significant privacy concerns. Large-scale data collection necessary for AI personalization may expose student information to potential risks. Addressing these concerns requires strict data protection policies and transparent practices.</a:t>
            </a:r>
            <a:endParaRPr lang="zh-CN" altLang="en-US" sz="2000"/>
          </a:p>
        </p:txBody>
      </p:sp>
      <p:pic>
        <p:nvPicPr>
          <p:cNvPr id="5" name="图片 4" descr="人们在看台上的人和电脑&#10;&#10;低可信度描述已自动生成">
            <a:extLst>
              <a:ext uri="{FF2B5EF4-FFF2-40B4-BE49-F238E27FC236}">
                <a16:creationId xmlns:a16="http://schemas.microsoft.com/office/drawing/2014/main" id="{32122DA9-2FD7-1892-5570-5BB64B78F74F}"/>
              </a:ext>
            </a:extLst>
          </p:cNvPr>
          <p:cNvPicPr>
            <a:picLocks noChangeAspect="1"/>
          </p:cNvPicPr>
          <p:nvPr/>
        </p:nvPicPr>
        <p:blipFill>
          <a:blip r:embed="rId2"/>
          <a:srcRect l="27979" r="15030"/>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76561870"/>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157</TotalTime>
  <Words>416</Words>
  <Application>Microsoft Office PowerPoint</Application>
  <PresentationFormat>宽屏</PresentationFormat>
  <Paragraphs>43</Paragraphs>
  <Slides>10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10</vt:i4>
      </vt:variant>
    </vt:vector>
  </HeadingPairs>
  <TitlesOfParts>
    <vt:vector size="14" baseType="lpstr">
      <vt:lpstr>等线</vt:lpstr>
      <vt:lpstr>等线 Light</vt:lpstr>
      <vt:lpstr>Arial</vt:lpstr>
      <vt:lpstr>Office 主题​​</vt:lpstr>
      <vt:lpstr>Impact of AI on education</vt:lpstr>
      <vt:lpstr>Artificial intelligence (AI)</vt:lpstr>
      <vt:lpstr>Applications on Education</vt:lpstr>
      <vt:lpstr>Challenge of AI in the education</vt:lpstr>
      <vt:lpstr>Goal</vt:lpstr>
      <vt:lpstr>Personalized Learning</vt:lpstr>
      <vt:lpstr>Educational Equity</vt:lpstr>
      <vt:lpstr>Limitations</vt:lpstr>
      <vt:lpstr>Future Directions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昆奇 张</dc:creator>
  <cp:lastModifiedBy>昆奇 张</cp:lastModifiedBy>
  <cp:revision>1</cp:revision>
  <dcterms:created xsi:type="dcterms:W3CDTF">2025-01-10T04:10:26Z</dcterms:created>
  <dcterms:modified xsi:type="dcterms:W3CDTF">2025-01-10T06:47:32Z</dcterms:modified>
</cp:coreProperties>
</file>